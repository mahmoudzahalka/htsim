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73152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Lossless vs Lossy Datacenter Transports</a:t>
            </a:r>
          </a:p>
          <a:p>
            <a:pPr algn="l">
              <a:spcAft>
                <a:spcPts val="400"/>
              </a:spcAft>
            </a:pPr>
            <a:r>
              <a:rPr sz="2200" b="0" i="0">
                <a:solidFill>
                  <a:srgbClr val="CFD8EA"/>
                </a:solidFill>
                <a:latin typeface="Calibri"/>
              </a:rPr>
              <a:t>IB (RoCE + DCQCN)  vs  Ultra Ethernet (UEC)  —  a controlled study in htsim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389120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9FB2D0"/>
                </a:solidFill>
                <a:latin typeface="Calibri"/>
              </a:rPr>
              <a:t>Same fat-tree, same 200G links, same workloads — two congestion philosophies compared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• AI / HPC datacenters are bottlenecked by the network, not compute: distributed training and storage are dominated by collective communication (incast, all-to-all, all-reduce).</a:t>
            </a:r>
          </a:p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• These patterns create extreme, bursty congestion — many senders hitting one link at once — which a naïve fabric handles badly (drops, retransmissions, collapse).</a:t>
            </a:r>
          </a:p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222222"/>
                </a:solidFill>
                <a:latin typeface="Calibri"/>
              </a:rPr>
              <a:t>• Two competing industry philosophies for the fabric:</a:t>
            </a:r>
          </a:p>
          <a:p>
            <a:pPr lvl="1" algn="l">
              <a:spcAft>
                <a:spcPts val="300"/>
              </a:spcAft>
            </a:pPr>
            <a:r>
              <a:rPr sz="1600" b="0" i="0">
                <a:solidFill>
                  <a:srgbClr val="555555"/>
                </a:solidFill>
                <a:latin typeface="Calibri"/>
              </a:rPr>
              <a:t>• InfiniBand-style / RoCE: keep the fabric LOSSLESS (PFC back-pressure) and add DCQCN congestion control to slow senders before buffers overflow.</a:t>
            </a:r>
          </a:p>
          <a:p>
            <a:pPr lvl="1" algn="l">
              <a:spcAft>
                <a:spcPts val="300"/>
              </a:spcAft>
            </a:pPr>
            <a:r>
              <a:rPr sz="1600" b="0" i="0">
                <a:solidFill>
                  <a:srgbClr val="555555"/>
                </a:solidFill>
                <a:latin typeface="Calibri"/>
              </a:rPr>
              <a:t>• Ultra Ethernet (UEC): let the fabric DROP, but spray each packet across all paths and retransmit fast — tolerate loss instead of preventing it.</a:t>
            </a:r>
          </a:p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• Question: which wins, on which workloads, and what does each pay for its performance?</a:t>
            </a:r>
          </a:p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• Approach: build BOTH stacks in the htsim packet simulator and measure them under identical conditions.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two stacks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222222"/>
                </a:solidFill>
                <a:latin typeface="Calibri"/>
              </a:rPr>
              <a:t>• IB — RoCE transport + DCQCN + lossless PFC fabric:</a:t>
            </a:r>
          </a:p>
          <a:p>
            <a:pPr lvl="1" algn="l">
              <a:spcAft>
                <a:spcPts val="300"/>
              </a:spcAft>
            </a:pPr>
            <a:r>
              <a:rPr sz="1600" b="0" i="0">
                <a:solidFill>
                  <a:srgbClr val="555555"/>
                </a:solidFill>
                <a:latin typeface="Calibri"/>
              </a:rPr>
              <a:t>• Per-flow ECMP (one path per flow, in-order delivery).</a:t>
            </a:r>
          </a:p>
          <a:p>
            <a:pPr lvl="1" algn="l">
              <a:spcAft>
                <a:spcPts val="300"/>
              </a:spcAft>
            </a:pPr>
            <a:r>
              <a:rPr sz="1600" b="0" i="0">
                <a:solidFill>
                  <a:srgbClr val="555555"/>
                </a:solidFill>
                <a:latin typeface="Calibri"/>
              </a:rPr>
              <a:t>• PFC pauses upstream when a switch buffer fills → no packet loss.</a:t>
            </a:r>
          </a:p>
          <a:p>
            <a:pPr lvl="1" algn="l">
              <a:spcAft>
                <a:spcPts val="300"/>
              </a:spcAft>
            </a:pPr>
            <a:r>
              <a:rPr sz="1600" b="0" i="0">
                <a:solidFill>
                  <a:srgbClr val="555555"/>
                </a:solidFill>
                <a:latin typeface="Calibri"/>
              </a:rPr>
              <a:t>• DCQCN: switches mark packets (ECN) as queues build; senders cut rate on the signal.</a:t>
            </a:r>
          </a:p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222222"/>
                </a:solidFill>
                <a:latin typeface="Calibri"/>
              </a:rPr>
              <a:t>• UET — UEC transport (NSCC congestion control) + lossy fabric:</a:t>
            </a:r>
          </a:p>
          <a:p>
            <a:pPr lvl="1" algn="l">
              <a:spcAft>
                <a:spcPts val="300"/>
              </a:spcAft>
            </a:pPr>
            <a:r>
              <a:rPr sz="1600" b="0" i="0">
                <a:solidFill>
                  <a:srgbClr val="555555"/>
                </a:solidFill>
                <a:latin typeface="Calibri"/>
              </a:rPr>
              <a:t>• Per-packet spray across ALL paths → uses full bisection bandwidth.</a:t>
            </a:r>
          </a:p>
          <a:p>
            <a:pPr lvl="1" algn="l">
              <a:spcAft>
                <a:spcPts val="300"/>
              </a:spcAft>
            </a:pPr>
            <a:r>
              <a:rPr sz="1600" b="0" i="0">
                <a:solidFill>
                  <a:srgbClr val="555555"/>
                </a:solidFill>
                <a:latin typeface="Calibri"/>
              </a:rPr>
              <a:t>• Packet trimming: overflowing packets are dropped (payload trimmed) and NACK'd → fast retransmit.</a:t>
            </a:r>
          </a:p>
          <a:p>
            <a:pPr lvl="1" algn="l">
              <a:spcAft>
                <a:spcPts val="300"/>
              </a:spcAft>
            </a:pPr>
            <a:r>
              <a:rPr sz="1600" b="0" i="0">
                <a:solidFill>
                  <a:srgbClr val="555555"/>
                </a:solidFill>
                <a:latin typeface="Calibri"/>
              </a:rPr>
              <a:t>• Reorder-tolerant receiver (spray causes heavy reordering).</a:t>
            </a:r>
          </a:p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• Both simulated in htsim on the SAME topology and workloads → a controlled, apples-to-apples comparison.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Experimental setup — matched on both sides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555555"/>
                </a:solidFill>
                <a:latin typeface="Calibri"/>
              </a:rPr>
              <a:t>Everything held constant except the transport/fabric — so differences are attributable to the stack.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• Topology: 3-tier fat-tree, 200 Gbps links (a3_200g topos).</a:t>
            </a:r>
          </a:p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• Scale: 128 nodes and 1024 nodes.</a:t>
            </a:r>
          </a:p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• Oversubscription sweep: 1:1, 4:1, 8:1 (core bandwidth reduced — models cost-driven real fat-trees).</a:t>
            </a:r>
          </a:p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• Flow sizes: 16, 64, 100 MB (bulk collective-style transfers).</a:t>
            </a:r>
          </a:p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• Identical traffic matrices (.cm) fed to both stacks; identical link speed &amp; topology.</a:t>
            </a:r>
          </a:p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• The only intentional difference besides the transport: MTU 4000 (IB) vs 4150 (UET) — each stack's native default; effect is small and proportional.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Workloads we ran — and what they mimic 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• Permutation — random &amp; full-bisection:  each node sends to one other node.</a:t>
            </a:r>
          </a:p>
          <a:p>
            <a:pPr lvl="1" algn="l">
              <a:spcAft>
                <a:spcPts val="300"/>
              </a:spcAft>
            </a:pPr>
            <a:r>
              <a:rPr sz="1600" b="0" i="0">
                <a:solidFill>
                  <a:srgbClr val="555555"/>
                </a:solidFill>
                <a:latin typeface="Calibri"/>
              </a:rPr>
              <a:t>• Mimics uniform shuffle / general point-to-point traffic; full-bisection maximally stresses the network core.</a:t>
            </a:r>
          </a:p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222222"/>
                </a:solidFill>
                <a:latin typeface="Calibri"/>
              </a:rPr>
              <a:t>• Incast (random) — many senders → one receiver (all-to-one):</a:t>
            </a:r>
          </a:p>
          <a:p>
            <a:pPr lvl="1" algn="l">
              <a:spcAft>
                <a:spcPts val="300"/>
              </a:spcAft>
            </a:pPr>
            <a:r>
              <a:rPr sz="1600" b="0" i="0">
                <a:solidFill>
                  <a:srgbClr val="555555"/>
                </a:solidFill>
                <a:latin typeface="Calibri"/>
              </a:rPr>
              <a:t>• The classic datacenter pain point: distributed-storage reads, MapReduce shuffle-to-reducer, parameter-server gather, partition/aggregate query fan-in.</a:t>
            </a:r>
          </a:p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222222"/>
                </a:solidFill>
                <a:latin typeface="Calibri"/>
              </a:rPr>
              <a:t>• Incast (remote) — incast where senders are the far half of the fabric:</a:t>
            </a:r>
          </a:p>
          <a:p>
            <a:pPr lvl="1" algn="l">
              <a:spcAft>
                <a:spcPts val="300"/>
              </a:spcAft>
            </a:pPr>
            <a:r>
              <a:rPr sz="1600" b="0" i="0">
                <a:solidFill>
                  <a:srgbClr val="555555"/>
                </a:solidFill>
                <a:latin typeface="Calibri"/>
              </a:rPr>
              <a:t>• Same fan-in but forced across the core → stresses incast AND core bandwidth together.</a:t>
            </a:r>
          </a:p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222222"/>
                </a:solidFill>
                <a:latin typeface="Calibri"/>
              </a:rPr>
              <a:t>• Outcast-incast — combined fan-out then fan-in:</a:t>
            </a:r>
          </a:p>
          <a:p>
            <a:pPr lvl="1" algn="l">
              <a:spcAft>
                <a:spcPts val="300"/>
              </a:spcAft>
            </a:pPr>
            <a:r>
              <a:rPr sz="1600" b="0" i="0">
                <a:solidFill>
                  <a:srgbClr val="555555"/>
                </a:solidFill>
                <a:latin typeface="Calibri"/>
              </a:rPr>
              <a:t>• Scatter-then-gather / tree-reduction communication.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Workloads we ran — and what they mimic 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222222"/>
                </a:solidFill>
                <a:latin typeface="Calibri"/>
              </a:rPr>
              <a:t>• All-to-all (a2a) — every node sends to every other node:</a:t>
            </a:r>
          </a:p>
          <a:p>
            <a:pPr lvl="1" algn="l">
              <a:spcAft>
                <a:spcPts val="300"/>
              </a:spcAft>
            </a:pPr>
            <a:r>
              <a:rPr sz="1600" b="0" i="0">
                <a:solidFill>
                  <a:srgbClr val="555555"/>
                </a:solidFill>
                <a:latin typeface="Calibri"/>
              </a:rPr>
              <a:t>• The most demanding collective. Mimics MPI_Alltoall: Mixture-of-Experts routing, embedding/table shuffles in recommendation models, FFT transposes, distributed sort.</a:t>
            </a:r>
          </a:p>
          <a:p>
            <a:pPr lvl="1" algn="l">
              <a:spcAft>
                <a:spcPts val="300"/>
              </a:spcAft>
            </a:pPr>
            <a:r>
              <a:rPr sz="1600" b="0" i="0">
                <a:solidFill>
                  <a:srgbClr val="555555"/>
                </a:solidFill>
                <a:latin typeface="Calibri"/>
              </a:rPr>
              <a:t>• Serial vs concurrent variants: staged rounds vs all pairs firing at once (peak stress).</a:t>
            </a:r>
          </a:p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222222"/>
                </a:solidFill>
                <a:latin typeface="Calibri"/>
              </a:rPr>
              <a:t>• Ring all-reduce — ring-structured gradient aggregation:</a:t>
            </a:r>
          </a:p>
          <a:p>
            <a:pPr lvl="1" algn="l">
              <a:spcAft>
                <a:spcPts val="300"/>
              </a:spcAft>
            </a:pPr>
            <a:r>
              <a:rPr sz="1600" b="0" i="0">
                <a:solidFill>
                  <a:srgbClr val="555555"/>
                </a:solidFill>
                <a:latin typeface="Calibri"/>
              </a:rPr>
              <a:t>• The dominant collective in data-parallel deep-learning training (gradient sync every step).</a:t>
            </a:r>
          </a:p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• Oversubscription (1:1 → 8:1) mimics real fat-trees thinned at the core for cost — testing each stack as the network gets more contended.</a:t>
            </a:r>
          </a:p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• Together these span the traffic that actually limits AI/HPC clusters — from benign permutation to pathological all-to-one incast.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we measure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222222"/>
                </a:solidFill>
                <a:latin typeface="Calibri"/>
              </a:rPr>
              <a:t>• Common (directly comparable between stacks):</a:t>
            </a:r>
          </a:p>
          <a:p>
            <a:pPr lvl="1" algn="l">
              <a:spcAft>
                <a:spcPts val="300"/>
              </a:spcAft>
            </a:pPr>
            <a:r>
              <a:rPr sz="1600" b="0" i="0">
                <a:solidFill>
                  <a:srgbClr val="555555"/>
                </a:solidFill>
                <a:latin typeface="Calibri"/>
              </a:rPr>
              <a:t>• Makespan — time for the whole workload to complete (the bottom line).</a:t>
            </a:r>
          </a:p>
          <a:p>
            <a:pPr lvl="1" algn="l">
              <a:spcAft>
                <a:spcPts val="300"/>
              </a:spcAft>
            </a:pPr>
            <a:r>
              <a:rPr sz="1600" b="0" i="0">
                <a:solidFill>
                  <a:srgbClr val="555555"/>
                </a:solidFill>
                <a:latin typeface="Calibri"/>
              </a:rPr>
              <a:t>• Flow-completion time (FCT) &amp; slowdown = FCT ÷ ideal (tail latency).</a:t>
            </a:r>
          </a:p>
          <a:p>
            <a:pPr lvl="1" algn="l">
              <a:spcAft>
                <a:spcPts val="300"/>
              </a:spcAft>
            </a:pPr>
            <a:r>
              <a:rPr sz="1600" b="0" i="0">
                <a:solidFill>
                  <a:srgbClr val="555555"/>
                </a:solidFill>
                <a:latin typeface="Calibri"/>
              </a:rPr>
              <a:t>• Per-tier link utilization (how well each fabric uses the network).</a:t>
            </a:r>
          </a:p>
          <a:p>
            <a:pPr lvl="1" algn="l">
              <a:spcAft>
                <a:spcPts val="300"/>
              </a:spcAft>
            </a:pPr>
            <a:r>
              <a:rPr sz="1600" b="0" i="0">
                <a:solidFill>
                  <a:srgbClr val="555555"/>
                </a:solidFill>
                <a:latin typeface="Calibri"/>
              </a:rPr>
              <a:t>• Completion / robustness — did every flow actually finish?</a:t>
            </a:r>
          </a:p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222222"/>
                </a:solidFill>
                <a:latin typeface="Calibri"/>
              </a:rPr>
              <a:t>• Each stack's native congestion signal (different mechanisms):</a:t>
            </a:r>
          </a:p>
          <a:p>
            <a:pPr lvl="1" algn="l">
              <a:spcAft>
                <a:spcPts val="300"/>
              </a:spcAft>
            </a:pPr>
            <a:r>
              <a:rPr sz="1600" b="0" i="0">
                <a:solidFill>
                  <a:srgbClr val="555555"/>
                </a:solidFill>
                <a:latin typeface="Calibri"/>
              </a:rPr>
              <a:t>• UET: packet-trim / NACK rate and retransmission count (its cost of dropping).</a:t>
            </a:r>
          </a:p>
          <a:p>
            <a:pPr lvl="1" algn="l">
              <a:spcAft>
                <a:spcPts val="300"/>
              </a:spcAft>
            </a:pPr>
            <a:r>
              <a:rPr sz="1600" b="0" i="0">
                <a:solidFill>
                  <a:srgbClr val="555555"/>
                </a:solidFill>
                <a:latin typeface="Calibri"/>
              </a:rPr>
              <a:t>• IB: PFC pause count &amp; pause-time, and peak buffer occupancy (its cost of back-pressure).</a:t>
            </a:r>
          </a:p>
          <a:p>
            <a:pPr lvl="1" algn="l">
              <a:spcAft>
                <a:spcPts val="300"/>
              </a:spcAft>
            </a:pPr>
            <a:r>
              <a:rPr sz="1600" b="0" i="0">
                <a:solidFill>
                  <a:srgbClr val="555555"/>
                </a:solidFill>
                <a:latin typeface="Calibri"/>
              </a:rPr>
              <a:t>• IB also: per-flow Jain fairness (how evenly bandwidth is shared).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Results — UET (Ultra Ethernet)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931920"/>
            <a:ext cx="9418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CFD8EA"/>
                </a:solidFill>
                <a:latin typeface="Calibri"/>
              </a:rPr>
              <a:t>Lossy fabric, per-packet spray + trimming, NSCC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UET — makespan vs oversubscription (128 nodes)</a:t>
            </a:r>
          </a:p>
        </p:txBody>
      </p:sp>
      <p:pic>
        <p:nvPicPr>
          <p:cNvPr id="4" name="Picture 3" descr="fig1_makespan_vs_os_1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143000"/>
            <a:ext cx="10972800" cy="38467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5099448"/>
            <a:ext cx="11091672" cy="658368"/>
          </a:xfrm>
          <a:prstGeom prst="rect">
            <a:avLst/>
          </a:prstGeom>
          <a:solidFill>
            <a:srgbClr val="EEF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136024"/>
            <a:ext cx="1069848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1F3864"/>
                </a:solidFill>
                <a:latin typeface="Calibri"/>
              </a:rPr>
              <a:t>Takeaway: Spray uses all paths, so permutation finishes fast; incast/all-to-all dominate and grow steeply with oversubscription.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UET — congestion (packet-trim / NACK rate)</a:t>
            </a:r>
          </a:p>
        </p:txBody>
      </p:sp>
      <p:pic>
        <p:nvPicPr>
          <p:cNvPr id="4" name="Picture 3" descr="fig2_nack_vs_os_1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5280" y="1143000"/>
            <a:ext cx="6961134" cy="46177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5870448"/>
            <a:ext cx="11091672" cy="658368"/>
          </a:xfrm>
          <a:prstGeom prst="rect">
            <a:avLst/>
          </a:prstGeom>
          <a:solidFill>
            <a:srgbClr val="EEF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907024"/>
            <a:ext cx="1069848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1F3864"/>
                </a:solidFill>
                <a:latin typeface="Calibri"/>
              </a:rPr>
              <a:t>Takeaway: Trim rate climbs sharply with oversubscription — under 8:1 a large fraction of packets are dropped and retransmitted (up to billions of retransmits for all-to-all).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UET — per-tier link utilization (128 nodes, 100 MB)</a:t>
            </a:r>
          </a:p>
        </p:txBody>
      </p:sp>
      <p:pic>
        <p:nvPicPr>
          <p:cNvPr id="4" name="Picture 3" descr="fig3_utilization_heatmaps_1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931" y="1143000"/>
            <a:ext cx="8985833" cy="46177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5870448"/>
            <a:ext cx="11091672" cy="658368"/>
          </a:xfrm>
          <a:prstGeom prst="rect">
            <a:avLst/>
          </a:prstGeom>
          <a:solidFill>
            <a:srgbClr val="EEF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907024"/>
            <a:ext cx="1069848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1F3864"/>
                </a:solidFill>
                <a:latin typeface="Calibri"/>
              </a:rPr>
              <a:t>Takeaway: Per-packet spray saturates links to ~100% across tiers — UET extracts maximum bandwidth from the fabric.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UET — serial vs concurrent all-to-all (128 nodes)</a:t>
            </a:r>
          </a:p>
        </p:txBody>
      </p:sp>
      <p:pic>
        <p:nvPicPr>
          <p:cNvPr id="4" name="Picture 3" descr="fig4_a2a_serial_vs_concurrent_1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143000"/>
            <a:ext cx="10972800" cy="301141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264146"/>
            <a:ext cx="11091672" cy="658368"/>
          </a:xfrm>
          <a:prstGeom prst="rect">
            <a:avLst/>
          </a:prstGeom>
          <a:solidFill>
            <a:srgbClr val="EEF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300722"/>
            <a:ext cx="1069848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1F3864"/>
                </a:solidFill>
                <a:latin typeface="Calibri"/>
              </a:rPr>
              <a:t>Takeaway: Concurrent all-to-all is far harder than staged/serial — peak contention drives both makespan and trim rate up.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Results — IB (RoCE + DCQCN)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931920"/>
            <a:ext cx="9418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CFD8EA"/>
                </a:solidFill>
                <a:latin typeface="Calibri"/>
              </a:rPr>
              <a:t>Lossless PFC fabric, per-flow ECMP, DCQCN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IB — makespan vs oversubscription (128 nodes)</a:t>
            </a:r>
          </a:p>
        </p:txBody>
      </p:sp>
      <p:pic>
        <p:nvPicPr>
          <p:cNvPr id="4" name="Picture 3" descr="fig1_makespan_vs_os_1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143000"/>
            <a:ext cx="10972800" cy="38467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5099448"/>
            <a:ext cx="11091672" cy="658368"/>
          </a:xfrm>
          <a:prstGeom prst="rect">
            <a:avLst/>
          </a:prstGeom>
          <a:solidFill>
            <a:srgbClr val="EEF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136024"/>
            <a:ext cx="1069848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1F3864"/>
                </a:solidFill>
                <a:latin typeface="Calibri"/>
              </a:rPr>
              <a:t>Takeaway: Incast is flat in OS (receiver is the bottleneck); permutation grows with OS because IB uses one path per flow (no spray).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IB — makespan vs oversubscription (1024 nodes)</a:t>
            </a:r>
          </a:p>
        </p:txBody>
      </p:sp>
      <p:pic>
        <p:nvPicPr>
          <p:cNvPr id="4" name="Picture 3" descr="fig2_makespan_vs_os_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143000"/>
            <a:ext cx="10972800" cy="384473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5097461"/>
            <a:ext cx="11091672" cy="658368"/>
          </a:xfrm>
          <a:prstGeom prst="rect">
            <a:avLst/>
          </a:prstGeom>
          <a:solidFill>
            <a:srgbClr val="EEF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134037"/>
            <a:ext cx="1069848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1F3864"/>
                </a:solidFill>
                <a:latin typeface="Calibri"/>
              </a:rPr>
              <a:t>Takeaway: Same structure holds at scale; IB completes every 1024-node workload, including the extreme incasts.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IB — PFC back-pressure (its congestion cost)</a:t>
            </a:r>
          </a:p>
        </p:txBody>
      </p:sp>
      <p:pic>
        <p:nvPicPr>
          <p:cNvPr id="4" name="Picture 3" descr="fig5_pfc_pause_vs_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143000"/>
            <a:ext cx="10972800" cy="45529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5805701"/>
            <a:ext cx="11091672" cy="658368"/>
          </a:xfrm>
          <a:prstGeom prst="rect">
            <a:avLst/>
          </a:prstGeom>
          <a:solidFill>
            <a:srgbClr val="EEF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842277"/>
            <a:ext cx="1069848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1F3864"/>
                </a:solidFill>
                <a:latin typeface="Calibri"/>
              </a:rPr>
              <a:t>Takeaway: IB is lossless (zero retransmits) — instead it pays in PFC pause-time, which rises steeply with oversubscription, most for incast.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IB — per-tier link utilization (128 nodes, 100 MB)</a:t>
            </a:r>
          </a:p>
        </p:txBody>
      </p:sp>
      <p:pic>
        <p:nvPicPr>
          <p:cNvPr id="4" name="Picture 3" descr="fig4_utilization_heatmaps_1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9529" y="1143000"/>
            <a:ext cx="7372636" cy="46177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5870448"/>
            <a:ext cx="11091672" cy="658368"/>
          </a:xfrm>
          <a:prstGeom prst="rect">
            <a:avLst/>
          </a:prstGeom>
          <a:solidFill>
            <a:srgbClr val="EEF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907024"/>
            <a:ext cx="1069848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1F3864"/>
                </a:solidFill>
                <a:latin typeface="Calibri"/>
              </a:rPr>
              <a:t>Takeaway: DCQCN paces senders → link utilization is lower and smoother than UET's saturation (bandwidth traded for gentleness).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IB — fairness &amp; tail slowdown  (unique to IB instrumentation)</a:t>
            </a:r>
          </a:p>
        </p:txBody>
      </p:sp>
      <p:pic>
        <p:nvPicPr>
          <p:cNvPr id="4" name="Picture 3" descr="fig6_fairness_vs_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25880"/>
            <a:ext cx="5486400" cy="22750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5943600"/>
            <a:ext cx="5486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55555"/>
                </a:solidFill>
                <a:latin typeface="Calibri"/>
              </a:rPr>
              <a:t>Jain fairness: incast is near-perfectly fair; permutation &amp; outcast grow UNFAIR under oversubscription (down to ~0.4).</a:t>
            </a:r>
          </a:p>
        </p:txBody>
      </p:sp>
      <p:pic>
        <p:nvPicPr>
          <p:cNvPr id="6" name="Picture 5" descr="fig7_slowdown_p99_vs_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1928" y="1325880"/>
            <a:ext cx="5486400" cy="22764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81928" y="5943600"/>
            <a:ext cx="5486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55555"/>
                </a:solidFill>
                <a:latin typeface="Calibri"/>
              </a:rPr>
              <a:t>Tail slowdown (p99): incast pays a huge tail (100×+), permutation stays low.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IB — peak PFC buffer occupancy (lossless buffer cost)</a:t>
            </a:r>
          </a:p>
        </p:txBody>
      </p:sp>
      <p:pic>
        <p:nvPicPr>
          <p:cNvPr id="4" name="Picture 3" descr="fig8_peak_buffer_vs_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143000"/>
            <a:ext cx="10972800" cy="455018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5802916"/>
            <a:ext cx="11091672" cy="658368"/>
          </a:xfrm>
          <a:prstGeom prst="rect">
            <a:avLst/>
          </a:prstGeom>
          <a:solidFill>
            <a:srgbClr val="EEF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839492"/>
            <a:ext cx="1069848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1F3864"/>
                </a:solidFill>
                <a:latin typeface="Calibri"/>
              </a:rPr>
              <a:t>Takeaway: How much buffer the lossless fabric actually needs — the memory price of never dropping a packet.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Analysis — putting them side by side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Analysis (1):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• UET is generally faster — makespan ratio IB/UET ≈ 2.2× on average; IB is faster on only ~18 of 96 matched runs.</a:t>
            </a:r>
          </a:p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• Biggest gap is PERMUTATION: IB is 3–4× slower.</a:t>
            </a:r>
          </a:p>
          <a:p>
            <a:pPr lvl="1" algn="l">
              <a:spcAft>
                <a:spcPts val="300"/>
              </a:spcAft>
            </a:pPr>
            <a:r>
              <a:rPr sz="1600" b="0" i="0">
                <a:solidFill>
                  <a:srgbClr val="555555"/>
                </a:solidFill>
                <a:latin typeface="Calibri"/>
              </a:rPr>
              <a:t>• Why: UET sprays every packet across all 128 paths and saturates the fabric; IB pins each flow to one ECMP path (RoCE needs near-in-order delivery), so flows collide.</a:t>
            </a:r>
          </a:p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• IB wins the HARD incasts: on 1024-node random incast IB is ~12% faster with a better tail.</a:t>
            </a:r>
          </a:p>
          <a:p>
            <a:pPr lvl="1" algn="l">
              <a:spcAft>
                <a:spcPts val="300"/>
              </a:spcAft>
            </a:pPr>
            <a:r>
              <a:rPr sz="1600" b="0" i="0">
                <a:solidFill>
                  <a:srgbClr val="555555"/>
                </a:solidFill>
                <a:latin typeface="Calibri"/>
              </a:rPr>
              <a:t>• Why: the receiver port is the physical bottleneck — spray can't help — and IB avoids UET's retransmission overhead there.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Analysis (2): robustness &amp; the cost of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222222"/>
                </a:solidFill>
                <a:latin typeface="Calibri"/>
              </a:rPr>
              <a:t>• Robustness — IB completed ALL 99 runs. UET left the most extreme cases unfinished:</a:t>
            </a:r>
          </a:p>
          <a:p>
            <a:pPr lvl="1" algn="l">
              <a:spcAft>
                <a:spcPts val="300"/>
              </a:spcAft>
            </a:pPr>
            <a:r>
              <a:rPr sz="1600" b="0" i="0">
                <a:solidFill>
                  <a:srgbClr val="555555"/>
                </a:solidFill>
                <a:latin typeface="Calibri"/>
              </a:rPr>
              <a:t>• 1024-node random incast at 8:1 oversubscription — incomplete (all sizes).</a:t>
            </a:r>
          </a:p>
          <a:p>
            <a:pPr lvl="1" algn="l">
              <a:spcAft>
                <a:spcPts val="300"/>
              </a:spcAft>
            </a:pPr>
            <a:r>
              <a:rPr sz="1600" b="0" i="0">
                <a:solidFill>
                  <a:srgbClr val="555555"/>
                </a:solidFill>
                <a:latin typeface="Calibri"/>
              </a:rPr>
              <a:t>• 1024-node all-to-all — timed out.</a:t>
            </a:r>
          </a:p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222222"/>
                </a:solidFill>
                <a:latin typeface="Calibri"/>
              </a:rPr>
              <a:t>• The cost each stack pays under heavy congestion is opposite:</a:t>
            </a:r>
          </a:p>
          <a:p>
            <a:pPr lvl="1" algn="l">
              <a:spcAft>
                <a:spcPts val="300"/>
              </a:spcAft>
            </a:pPr>
            <a:r>
              <a:rPr sz="1600" b="0" i="0">
                <a:solidFill>
                  <a:srgbClr val="555555"/>
                </a:solidFill>
                <a:latin typeface="Calibri"/>
              </a:rPr>
              <a:t>• UET burns BANDWIDTH on retransmissions — up to ~3 billion retransmits in one all-to-all run (each packet sent ~8× at 8:1 oversubscription).</a:t>
            </a:r>
          </a:p>
          <a:p>
            <a:pPr lvl="1" algn="l">
              <a:spcAft>
                <a:spcPts val="300"/>
              </a:spcAft>
            </a:pPr>
            <a:r>
              <a:rPr sz="1600" b="0" i="0">
                <a:solidFill>
                  <a:srgbClr val="555555"/>
                </a:solidFill>
                <a:latin typeface="Calibri"/>
              </a:rPr>
              <a:t>• IB burns TIME on back-pressure — zero retransmits, but PFC pauses stall senders (hundreds of port-seconds), and it needs large lossless buffers.</a:t>
            </a:r>
          </a:p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• Utilization mirrors this: UET saturates links (~100%); IB deliberately runs them cooler (DCQCN pacing).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222222"/>
                </a:solidFill>
                <a:latin typeface="Calibri"/>
              </a:rPr>
              <a:t>• It's a clean speed-vs-robustness trade-off, not a winner-takes-all:</a:t>
            </a:r>
          </a:p>
          <a:p>
            <a:pPr lvl="1" algn="l">
              <a:spcAft>
                <a:spcPts val="300"/>
              </a:spcAft>
            </a:pPr>
            <a:r>
              <a:rPr sz="1600" b="0" i="0">
                <a:solidFill>
                  <a:srgbClr val="555555"/>
                </a:solidFill>
                <a:latin typeface="Calibri"/>
              </a:rPr>
              <a:t>• UET (lossy spray) is 2–4× faster on well-behaved / permutation traffic by exploiting all paths and saturating links — but pays with massive retransmission under congestion and fails to complete the most pathological incasts.</a:t>
            </a:r>
          </a:p>
          <a:p>
            <a:pPr lvl="1" algn="l">
              <a:spcAft>
                <a:spcPts val="300"/>
              </a:spcAft>
            </a:pPr>
            <a:r>
              <a:rPr sz="1600" b="0" i="0">
                <a:solidFill>
                  <a:srgbClr val="555555"/>
                </a:solidFill>
                <a:latin typeface="Calibri"/>
              </a:rPr>
              <a:t>• IB (lossless PFC + DCQCN) is slower (especially where it can't use multipath) but never drops a packet, completes every workload UET can't, and has a better tail on the hard 1024-node incasts — paying in back-pressure, buffering and lower utilization.</a:t>
            </a:r>
          </a:p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• Practical read: choose UET where throughput on diverse traffic matters and the fabric can absorb retransmission; choose IB where losslessness, predictability and worst-case incast completion matter.</a:t>
            </a:r>
          </a:p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• The comparison is controlled (identical topology, links, workloads), so these differences are attributable to the transport/fabric design itself.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• Tune DCQCN (ECN threshold K, minimum rate) — K=8 was one sensible operating point; sweep it.</a:t>
            </a:r>
          </a:p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• Adaptive routing for IB (ecmp_ar): would let IB use multiple paths and likely close much of the permutation gap.</a:t>
            </a:r>
          </a:p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• Fill in workload parity: run serial-a2a and all-reduce on IB (UET has them; IB doesn't yet).</a:t>
            </a:r>
          </a:p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• Push to larger scale (8192 nodes) and real AI communication traces (GOAL / ATLAHS).</a:t>
            </a:r>
          </a:p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• Symmetric metrics: recompute UET fairness per-flow; report exact UET retransmit magnitudes.</a:t>
            </a:r>
          </a:p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• Overlay IB-vs-UET figures on shared axes for the directly-comparable metrics.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834640"/>
            <a:ext cx="1033272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Thank you</a:t>
            </a:r>
          </a:p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CFD8EA"/>
                </a:solidFill>
                <a:latin typeface="Calibri"/>
              </a:rPr>
              <a:t>IB (RoCE/DCQCN) vs Ultra Ethernet — controlled comparison in htsim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